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EMA 8/24/72 Stack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400" b="0">
                <a:solidFill>
                  <a:srgbClr val="00C896"/>
                </a:solidFill>
                <a:latin typeface="Calibri"/>
              </a:rPr>
              <a:t>Backtest Results — NIFTY 50, Bank Nifty &amp; ATM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Real 5-minute &amp; daily market data from Dhan API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Includes rare FREE historical OPTIONS data (rolling ATM Call/Put)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Data source: DhanHQ  |  Strategy: EMA stack crossover + volume confirmation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400" b="1">
                <a:solidFill>
                  <a:srgbClr val="00C896"/>
                </a:solidFill>
                <a:latin typeface="Calibri"/>
              </a:rPr>
              <a:t>The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260604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EMA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22860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3 EMAs: 8 / 24 / 72.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BULLISH when 8&gt;24&gt;72.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BEARISH when 8&lt;24&lt;72.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544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554480"/>
            <a:ext cx="2606040" cy="109728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000" b="1">
                <a:solidFill>
                  <a:srgbClr val="00C896"/>
                </a:solidFill>
                <a:latin typeface="Calibri"/>
              </a:rPr>
              <a:t>Fresh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2860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Trade fires only on the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candle the stack first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forms (not every bar).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60604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Volume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22860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Signal must have volume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&gt;= 1.3x its 20-bar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average to confirm.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554480"/>
            <a:ext cx="2606040" cy="2926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554480"/>
            <a:ext cx="260604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Horizons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514600"/>
            <a:ext cx="2286000" cy="18288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Forward return checked at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+3/+6/+12/+24 bars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(or trading days).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Tested on: Nifty 50 index, Bank Nifty index, all 48 liquid Nifty-50 stocks (3.5 yrs daily),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and rolling ATM Call/Put options for Nifty &amp; Bank Nifty (6 months of 5-min data).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200" b="1">
                <a:solidFill>
                  <a:srgbClr val="00C896"/>
                </a:solidFill>
                <a:latin typeface="Calibri"/>
              </a:rPr>
              <a:t>Top Performers — Stocks &amp; Indices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Daily candles, 3.5 years of data. Horizon = +6 trading days. Minimum 5 signals.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37744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SYMBOL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9164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691640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91640"/>
            <a:ext cx="384048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WIN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691640"/>
            <a:ext cx="22860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AVG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TATASTEEL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176272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176272"/>
            <a:ext cx="3291840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+3.77%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23744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BAJAJFINSV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523744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523744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596896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596896"/>
            <a:ext cx="2633472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523744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23744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+3.31%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44368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BANKNIFTY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944368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944368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3017520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20640" y="3017520"/>
            <a:ext cx="2468880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944368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75%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44368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+0.43%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ICICIBANK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364992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364992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438144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0640" y="3438144"/>
            <a:ext cx="2350373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364992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71%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364992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85616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NIFTY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785616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785616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3858768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20640" y="3858768"/>
            <a:ext cx="2350373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3785616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71%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785616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+0.57%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06240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BPCL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4206240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4206240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4279392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20640" y="4279392"/>
            <a:ext cx="2350373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4206240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71%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206240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+0.17%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626864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HEROMOTOCO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4626864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4626864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20640" y="4700016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20640" y="4700016"/>
            <a:ext cx="2195657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4626864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67%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626864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+1.43%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047488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HDFCLIFE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80" y="5047488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BEAR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5047488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20640" y="5120640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20640" y="5120640"/>
            <a:ext cx="2195657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8200" y="5047488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67%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5047488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+0.96%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468112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ULTRACEMCO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0" y="5468112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BULL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5468112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5541264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20640" y="5541264"/>
            <a:ext cx="2195657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5468112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67%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468112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+0.92%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888736"/>
            <a:ext cx="237744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BANKNIFTY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5888736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BEAR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5888736"/>
            <a:ext cx="109728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11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120640" y="5961888"/>
            <a:ext cx="3291840" cy="25603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120640" y="5961888"/>
            <a:ext cx="2093610" cy="256032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58200" y="5888736"/>
            <a:ext cx="82296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64%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0" y="5888736"/>
            <a:ext cx="2286000" cy="420624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1">
                <a:solidFill>
                  <a:srgbClr val="00C896"/>
                </a:solidFill>
                <a:latin typeface="Calibri"/>
              </a:rPr>
              <a:t>+0.79%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Green = win rate &gt;= 60%. These are the setups with a real statistical edge.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>
                <a:solidFill>
                  <a:srgbClr val="00C896"/>
                </a:solidFill>
                <a:latin typeface="Calibri"/>
              </a:rPr>
              <a:t>Index Spotlight — Most Reliable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Indices have the largest signal counts, so their win rates are the most trustworthy.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1206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120640" cy="12801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572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BANK NIFTY  —  BULL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743200" cy="12801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6000" b="1">
                <a:solidFill>
                  <a:srgbClr val="00C896"/>
                </a:solidFill>
                <a:latin typeface="Calibri"/>
              </a:rPr>
              <a:t>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Win rate  (+6 trading 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8056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Signals: 16     Avg return: +0.43%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12064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120640" cy="128016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45720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NIFTY 50  —  BULL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88920"/>
            <a:ext cx="2743200" cy="128016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6000" b="1">
                <a:solidFill>
                  <a:srgbClr val="00C896"/>
                </a:solidFill>
                <a:latin typeface="Calibri"/>
              </a:rPr>
              <a:t>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02336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Win rate  (+6 trading days)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48056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Signals: 14     Avg return: +0.57%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Verdict: On the BUY side, the EMA stack shows a genuine edge on indices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(Bank Nifty 75% over 16 signals, Nifty 71% over 14 signals).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000" b="1">
                <a:solidFill>
                  <a:srgbClr val="3B82F6"/>
                </a:solidFill>
                <a:latin typeface="Calibri"/>
              </a:rPr>
              <a:t>Options Backtest (ATM Call / 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Rolling ATM options, 6 months of 5-min data. FREE data most sites don't give away.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301752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OPTION LEG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783080"/>
            <a:ext cx="146304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BEST WIN%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783080"/>
            <a:ext cx="18288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83080"/>
            <a:ext cx="2743200" cy="3200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AVG RET (+120min)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01752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BANKNIFTY PUT (BEAR)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146304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700" b="1">
                <a:solidFill>
                  <a:srgbClr val="00C896"/>
                </a:solidFill>
                <a:latin typeface="Calibri"/>
              </a:rPr>
              <a:t>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240280"/>
            <a:ext cx="18288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40280"/>
            <a:ext cx="27432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Calibri"/>
              </a:rPr>
              <a:t>+2.08%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01752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BANKNIFTY CALL (BEAR)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146304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Calibri"/>
              </a:rPr>
              <a:t>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743200"/>
            <a:ext cx="18288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743200"/>
            <a:ext cx="27432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Calibri"/>
              </a:rPr>
              <a:t>+1.83%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01752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NIFTY PUT (BEAR)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146304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46120"/>
            <a:ext cx="18288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46120"/>
            <a:ext cx="27432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Calibri"/>
              </a:rPr>
              <a:t>+0.45%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49040"/>
            <a:ext cx="301752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NIFTY CALL (BEAR)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49040"/>
            <a:ext cx="146304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749040"/>
            <a:ext cx="18288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749040"/>
            <a:ext cx="2743200" cy="502920"/>
          </a:xfrm>
          <a:prstGeom prst="rect">
            <a:avLst/>
          </a:prstGeom>
          <a:noFill/>
        </p:spPr>
        <p:txBody>
          <a:bodyPr wrap="square" anchor="ctr" lIns="50800" rIns="50800">
            <a:spAutoFit/>
          </a:bodyPr>
          <a:lstStyle/>
          <a:p>
            <a:pPr algn="l"/>
            <a:r>
              <a:rPr sz="1500" b="1">
                <a:solidFill>
                  <a:srgbClr val="00C896"/>
                </a:solidFill>
                <a:latin typeface="Calibri"/>
              </a:rPr>
              <a:t>+0.23%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84632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WARNING: On options, this strategy is WEAK. Buying options (BULL) loses on almost every leg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(win rate 12-33%, negative avg return) due to theta decay + whipsaw. Only Bank Nifty PUT / 2-hr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holds show ~59% — and even that swings -15% mid-trade. Use signals on SPOT/FUTURES, not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3400" b="1">
                <a:solidFill>
                  <a:srgbClr val="00C896"/>
                </a:solidFill>
                <a:latin typeface="Calibri"/>
              </a:rPr>
              <a:t>Verdict &amp; Honest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28016" cy="82296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424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900" b="1">
                <a:solidFill>
                  <a:srgbClr val="00C896"/>
                </a:solidFill>
                <a:latin typeface="Calibri"/>
              </a:rPr>
              <a:t>EDGE on indices (BUY side)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Bank Nifty 75% &amp; Nifty 71% win rate over 6 days. Largest, most reliable samples.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28016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424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900" b="1">
                <a:solidFill>
                  <a:srgbClr val="3B82F6"/>
                </a:solidFill>
                <a:latin typeface="Calibri"/>
              </a:rPr>
              <a:t>Some strong stocks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TATASTEEL, BAJAJFINSV, ICICIBANK, BPCL show 70-100% — but smaller samples (5-7 signals).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128016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424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900" b="1">
                <a:solidFill>
                  <a:srgbClr val="EF4444"/>
                </a:solidFill>
                <a:latin typeface="Calibri"/>
              </a:rPr>
              <a:t>SHORT side is weak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6732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Bearish signals mostly break even or lose. Do not trade the short side blindly.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28016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424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900" b="1">
                <a:solidFill>
                  <a:srgbClr val="EF4444"/>
                </a:solidFill>
                <a:latin typeface="Calibri"/>
              </a:rPr>
              <a:t>Options = 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2744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Theta decay kills option buyers. Take the signal on spot/futures; use options only to execute.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03520"/>
            <a:ext cx="128016" cy="8229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424160" cy="41148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900" b="1">
                <a:solidFill>
                  <a:srgbClr val="94A3B8"/>
                </a:solidFill>
                <a:latin typeface="Calibri"/>
              </a:rPr>
              <a:t>Data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10424160" cy="4572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Intraday 5-min is capped at ~5 days by Dhan; daily test covers 3.5 yrs. More data = more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Free Data &amp; Full Backtest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2000" b="0">
                <a:solidFill>
                  <a:srgbClr val="00C896"/>
                </a:solidFill>
                <a:latin typeface="Calibri"/>
              </a:rPr>
              <a:t>Everything used in this study is shared openly.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• 5-min &amp; daily OHLCV for Nifty 50, Bank Nifty and 48 stocks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• Rare FREE historical OPTIONS data — rolling ATM Call/Put (6 months)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• Python backtest scripts (EMA stack strategy, fully documented)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• Excel workbooks with every candle + a ranking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Search terms: nifty 5 min data free · bank nifty option historical data · EMA crossover backtest India · dhan api backtest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